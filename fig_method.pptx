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20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A   Horizon-gated latent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1737360" cy="914400"/>
          </a:xfrm>
          <a:prstGeom prst="roundRect">
            <a:avLst/>
          </a:prstGeom>
          <a:solidFill>
            <a:srgbClr val="F4F4F2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937"/>
                </a:solidFill>
              </a:rPr>
              <a:t>past patches
x≤t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03120" y="1508760"/>
            <a:ext cx="64008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0" y="1051560"/>
            <a:ext cx="1737360" cy="914400"/>
          </a:xfrm>
          <a:prstGeom prst="roundRect">
            <a:avLst/>
          </a:prstGeom>
          <a:solidFill>
            <a:srgbClr val="DBE9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937"/>
                </a:solidFill>
              </a:rPr>
              <a:t>causal
encoder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480560" y="1371600"/>
            <a:ext cx="731520" cy="13716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12080" y="960120"/>
            <a:ext cx="914400" cy="777240"/>
          </a:xfrm>
          <a:prstGeom prst="rect">
            <a:avLst/>
          </a:prstGeom>
          <a:solidFill>
            <a:srgbClr val="2A78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z_slow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2377440" cy="777240"/>
          </a:xfrm>
          <a:prstGeom prst="rect">
            <a:avLst/>
          </a:prstGeom>
          <a:solidFill>
            <a:srgbClr val="EDA1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</a:rPr>
              <a:t>z_fast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566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z_t ∈ R⁶⁴   (16 | 48 dims)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943600" y="1810512"/>
            <a:ext cx="182880" cy="0"/>
          </a:xfrm>
          <a:prstGeom prst="line">
            <a:avLst/>
          </a:prstGeom>
          <a:ln w="19050">
            <a:solidFill>
              <a:srgbClr val="4A3AA7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496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3AA7"/>
                </a:solidFill>
              </a:rPr>
              <a:t>dcor 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743200"/>
            <a:ext cx="1371600" cy="868680"/>
          </a:xfrm>
          <a:prstGeom prst="roundRect">
            <a:avLst/>
          </a:prstGeom>
          <a:solidFill>
            <a:srgbClr val="FDF1D8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937"/>
                </a:solidFill>
              </a:rPr>
              <a:t>× g(Δ)
gate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1737360"/>
            <a:ext cx="91440" cy="100584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08960" y="3017520"/>
            <a:ext cx="2194560" cy="914400"/>
          </a:xfrm>
          <a:prstGeom prst="roundRect">
            <a:avLst/>
          </a:prstGeom>
          <a:solidFill>
            <a:srgbClr val="DBE9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937"/>
                </a:solidFill>
              </a:rPr>
              <a:t>predictor
P(·, Δ)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480560" y="1737360"/>
            <a:ext cx="1097280" cy="1280160"/>
          </a:xfrm>
          <a:prstGeom prst="line">
            <a:avLst/>
          </a:prstGeom>
          <a:ln w="1905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303520" y="3200400"/>
            <a:ext cx="1920240" cy="18288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9496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78D6"/>
                </a:solidFill>
              </a:rPr>
              <a:t>slow path:</a:t>
            </a:r>
          </a:p>
          <a:p>
            <a:pPr algn="l"/>
            <a:r>
              <a:rPr sz="900" b="0" i="0">
                <a:solidFill>
                  <a:srgbClr val="2A78D6"/>
                </a:solidFill>
              </a:rPr>
              <a:t>always open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017520"/>
            <a:ext cx="1371600" cy="914400"/>
          </a:xfrm>
          <a:prstGeom prst="roundRect">
            <a:avLst/>
          </a:prstGeom>
          <a:solidFill>
            <a:srgbClr val="DBE9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937"/>
                </a:solidFill>
              </a:rPr>
              <a:t>target
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50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(EMA copy)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3127248"/>
            <a:ext cx="777240" cy="685800"/>
          </a:xfrm>
          <a:prstGeom prst="rect">
            <a:avLst/>
          </a:prstGeom>
          <a:solidFill>
            <a:srgbClr val="F4F4F2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937"/>
                </a:solidFill>
              </a:rPr>
              <a:t>z̄_{t+Δ}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20" y="3474720"/>
            <a:ext cx="13716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560320" y="3474720"/>
            <a:ext cx="54864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68880" y="294436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L₂ /</a:t>
            </a:r>
          </a:p>
          <a:p>
            <a:pPr algn="ctr"/>
            <a:r>
              <a:rPr sz="800" b="0" i="0">
                <a:solidFill>
                  <a:srgbClr val="6B7280"/>
                </a:solidFill>
              </a:rPr>
              <a:t>InfoNCE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Long horizons see only z_slow ⇒ slow factors are assigned there (Prop. 1);</a:t>
            </a:r>
          </a:p>
          <a:p>
            <a:pPr algn="l"/>
            <a:r>
              <a:rPr sz="1100" b="0" i="0">
                <a:solidFill>
                  <a:srgbClr val="1F2937"/>
                </a:solidFill>
              </a:rPr>
              <a:t>bottleneck + dcor exclude fast factors (Prop. 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B   Gate schedule: fast block fades beyond 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05840" y="4023360"/>
            <a:ext cx="7360920" cy="0"/>
          </a:xfrm>
          <a:prstGeom prst="line">
            <a:avLst/>
          </a:prstGeom>
          <a:ln w="1587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1097280"/>
            <a:ext cx="0" cy="292608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7438" y="1097280"/>
            <a:ext cx="0" cy="2926080"/>
          </a:xfrm>
          <a:prstGeom prst="line">
            <a:avLst/>
          </a:prstGeom>
          <a:ln w="9525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8838" y="8046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12233" y="1097280"/>
            <a:ext cx="0" cy="2926080"/>
          </a:xfrm>
          <a:prstGeom prst="line">
            <a:avLst/>
          </a:prstGeom>
          <a:ln w="9525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3633" y="8046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31412" y="1097280"/>
            <a:ext cx="0" cy="2926080"/>
          </a:xfrm>
          <a:prstGeom prst="line">
            <a:avLst/>
          </a:prstGeom>
          <a:ln w="9525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02812" y="8046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08130" y="1097280"/>
            <a:ext cx="0" cy="2926080"/>
          </a:xfrm>
          <a:prstGeom prst="line">
            <a:avLst/>
          </a:prstGeom>
          <a:ln w="9525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79530" y="8046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64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0420" y="1097280"/>
            <a:ext cx="0" cy="2926080"/>
          </a:xfrm>
          <a:prstGeom prst="line">
            <a:avLst/>
          </a:prstGeom>
          <a:ln w="9525">
            <a:solidFill>
              <a:srgbClr val="D5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81820" y="8046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128</a:t>
            </a:r>
          </a:p>
        </p:txBody>
      </p:sp>
      <p:sp>
        <p:nvSpPr>
          <p:cNvPr id="15" name="Freeform 14"/>
          <p:cNvSpPr/>
          <p:nvPr/>
        </p:nvSpPr>
        <p:spPr>
          <a:xfrm>
            <a:off x="1005840" y="1149909"/>
            <a:ext cx="7223760" cy="2873450"/>
          </a:xfrm>
          <a:custGeom>
            <a:avLst/>
            <a:gdLst/>
            <a:ahLst/>
            <a:cxnLst/>
            <a:rect l="l" t="t" r="r" b="b"/>
            <a:pathLst>
              <a:path w="7223760" h="2873450">
                <a:moveTo>
                  <a:pt x="0" y="0"/>
                </a:moveTo>
                <a:lnTo>
                  <a:pt x="60703" y="17564"/>
                </a:lnTo>
                <a:lnTo>
                  <a:pt x="121407" y="40800"/>
                </a:lnTo>
                <a:lnTo>
                  <a:pt x="182111" y="71393"/>
                </a:lnTo>
                <a:lnTo>
                  <a:pt x="242815" y="111424"/>
                </a:lnTo>
                <a:lnTo>
                  <a:pt x="303519" y="163379"/>
                </a:lnTo>
                <a:lnTo>
                  <a:pt x="364223" y="230105"/>
                </a:lnTo>
                <a:lnTo>
                  <a:pt x="424927" y="314648"/>
                </a:lnTo>
                <a:lnTo>
                  <a:pt x="485630" y="419952"/>
                </a:lnTo>
                <a:lnTo>
                  <a:pt x="546334" y="548358"/>
                </a:lnTo>
                <a:lnTo>
                  <a:pt x="607038" y="700937"/>
                </a:lnTo>
                <a:lnTo>
                  <a:pt x="667742" y="876768"/>
                </a:lnTo>
                <a:lnTo>
                  <a:pt x="728446" y="1072381"/>
                </a:lnTo>
                <a:lnTo>
                  <a:pt x="789150" y="1281653"/>
                </a:lnTo>
                <a:lnTo>
                  <a:pt x="849854" y="1496373"/>
                </a:lnTo>
                <a:lnTo>
                  <a:pt x="910557" y="1707440"/>
                </a:lnTo>
                <a:lnTo>
                  <a:pt x="971261" y="1906354"/>
                </a:lnTo>
                <a:lnTo>
                  <a:pt x="1031965" y="2086506"/>
                </a:lnTo>
                <a:lnTo>
                  <a:pt x="1092669" y="2243885"/>
                </a:lnTo>
                <a:lnTo>
                  <a:pt x="1153373" y="2377093"/>
                </a:lnTo>
                <a:lnTo>
                  <a:pt x="1214077" y="2486860"/>
                </a:lnTo>
                <a:lnTo>
                  <a:pt x="1274781" y="2575331"/>
                </a:lnTo>
                <a:lnTo>
                  <a:pt x="1335485" y="2645374"/>
                </a:lnTo>
                <a:lnTo>
                  <a:pt x="1396188" y="2700047"/>
                </a:lnTo>
                <a:lnTo>
                  <a:pt x="1456892" y="2742251"/>
                </a:lnTo>
                <a:lnTo>
                  <a:pt x="1517596" y="2774552"/>
                </a:lnTo>
                <a:lnTo>
                  <a:pt x="1578300" y="2799112"/>
                </a:lnTo>
                <a:lnTo>
                  <a:pt x="1639004" y="2817693"/>
                </a:lnTo>
                <a:lnTo>
                  <a:pt x="1699708" y="2831698"/>
                </a:lnTo>
                <a:lnTo>
                  <a:pt x="1760412" y="2842224"/>
                </a:lnTo>
                <a:lnTo>
                  <a:pt x="1821115" y="2850117"/>
                </a:lnTo>
                <a:lnTo>
                  <a:pt x="1881819" y="2856027"/>
                </a:lnTo>
                <a:lnTo>
                  <a:pt x="1942523" y="2860447"/>
                </a:lnTo>
                <a:lnTo>
                  <a:pt x="2003227" y="2863750"/>
                </a:lnTo>
                <a:lnTo>
                  <a:pt x="2063931" y="2866215"/>
                </a:lnTo>
                <a:lnTo>
                  <a:pt x="2124635" y="2868056"/>
                </a:lnTo>
                <a:lnTo>
                  <a:pt x="2185339" y="2869428"/>
                </a:lnTo>
                <a:lnTo>
                  <a:pt x="2246043" y="2870452"/>
                </a:lnTo>
                <a:lnTo>
                  <a:pt x="2306746" y="2871216"/>
                </a:lnTo>
                <a:lnTo>
                  <a:pt x="2367450" y="2871785"/>
                </a:lnTo>
                <a:lnTo>
                  <a:pt x="2428154" y="2872209"/>
                </a:lnTo>
                <a:lnTo>
                  <a:pt x="2488858" y="2872525"/>
                </a:lnTo>
                <a:lnTo>
                  <a:pt x="2549562" y="2872761"/>
                </a:lnTo>
                <a:lnTo>
                  <a:pt x="2610266" y="2872937"/>
                </a:lnTo>
                <a:lnTo>
                  <a:pt x="2670970" y="2873068"/>
                </a:lnTo>
                <a:lnTo>
                  <a:pt x="2731673" y="2873165"/>
                </a:lnTo>
                <a:lnTo>
                  <a:pt x="2792377" y="2873238"/>
                </a:lnTo>
                <a:lnTo>
                  <a:pt x="2853081" y="2873292"/>
                </a:lnTo>
                <a:lnTo>
                  <a:pt x="2913785" y="2873332"/>
                </a:lnTo>
                <a:lnTo>
                  <a:pt x="2974489" y="2873362"/>
                </a:lnTo>
                <a:lnTo>
                  <a:pt x="3035193" y="2873385"/>
                </a:lnTo>
                <a:lnTo>
                  <a:pt x="3095897" y="2873402"/>
                </a:lnTo>
                <a:lnTo>
                  <a:pt x="3156601" y="2873414"/>
                </a:lnTo>
                <a:lnTo>
                  <a:pt x="3217304" y="2873423"/>
                </a:lnTo>
                <a:lnTo>
                  <a:pt x="3278008" y="2873430"/>
                </a:lnTo>
                <a:lnTo>
                  <a:pt x="3338712" y="2873435"/>
                </a:lnTo>
                <a:lnTo>
                  <a:pt x="3399416" y="2873439"/>
                </a:lnTo>
                <a:lnTo>
                  <a:pt x="3460120" y="2873442"/>
                </a:lnTo>
                <a:lnTo>
                  <a:pt x="3520824" y="2873444"/>
                </a:lnTo>
                <a:lnTo>
                  <a:pt x="3581528" y="2873446"/>
                </a:lnTo>
                <a:lnTo>
                  <a:pt x="3642231" y="2873447"/>
                </a:lnTo>
                <a:lnTo>
                  <a:pt x="3702935" y="2873448"/>
                </a:lnTo>
                <a:lnTo>
                  <a:pt x="3763639" y="2873449"/>
                </a:lnTo>
                <a:lnTo>
                  <a:pt x="3824343" y="2873449"/>
                </a:lnTo>
                <a:lnTo>
                  <a:pt x="3885047" y="2873449"/>
                </a:lnTo>
                <a:lnTo>
                  <a:pt x="3945751" y="2873450"/>
                </a:lnTo>
                <a:lnTo>
                  <a:pt x="4006455" y="2873450"/>
                </a:lnTo>
                <a:lnTo>
                  <a:pt x="4067158" y="2873450"/>
                </a:lnTo>
                <a:lnTo>
                  <a:pt x="4127862" y="2873450"/>
                </a:lnTo>
                <a:lnTo>
                  <a:pt x="4188566" y="2873450"/>
                </a:lnTo>
                <a:lnTo>
                  <a:pt x="4249270" y="2873450"/>
                </a:lnTo>
                <a:lnTo>
                  <a:pt x="4309974" y="2873450"/>
                </a:lnTo>
                <a:lnTo>
                  <a:pt x="4370678" y="2873450"/>
                </a:lnTo>
                <a:lnTo>
                  <a:pt x="4431382" y="2873450"/>
                </a:lnTo>
                <a:lnTo>
                  <a:pt x="4492086" y="2873450"/>
                </a:lnTo>
                <a:lnTo>
                  <a:pt x="4552789" y="2873450"/>
                </a:lnTo>
                <a:lnTo>
                  <a:pt x="4613493" y="2873450"/>
                </a:lnTo>
                <a:lnTo>
                  <a:pt x="4674197" y="2873450"/>
                </a:lnTo>
                <a:lnTo>
                  <a:pt x="4734901" y="2873450"/>
                </a:lnTo>
                <a:lnTo>
                  <a:pt x="4795605" y="2873450"/>
                </a:lnTo>
                <a:lnTo>
                  <a:pt x="4856309" y="2873450"/>
                </a:lnTo>
                <a:lnTo>
                  <a:pt x="4917013" y="2873450"/>
                </a:lnTo>
                <a:lnTo>
                  <a:pt x="4977716" y="2873450"/>
                </a:lnTo>
                <a:lnTo>
                  <a:pt x="5038420" y="2873450"/>
                </a:lnTo>
                <a:lnTo>
                  <a:pt x="5099124" y="2873450"/>
                </a:lnTo>
                <a:lnTo>
                  <a:pt x="5159828" y="2873450"/>
                </a:lnTo>
                <a:lnTo>
                  <a:pt x="5220532" y="2873450"/>
                </a:lnTo>
                <a:lnTo>
                  <a:pt x="5281236" y="2873450"/>
                </a:lnTo>
                <a:lnTo>
                  <a:pt x="5341940" y="2873450"/>
                </a:lnTo>
                <a:lnTo>
                  <a:pt x="5402644" y="2873450"/>
                </a:lnTo>
                <a:lnTo>
                  <a:pt x="5463347" y="2873450"/>
                </a:lnTo>
                <a:lnTo>
                  <a:pt x="5524051" y="2873450"/>
                </a:lnTo>
                <a:lnTo>
                  <a:pt x="5584755" y="2873450"/>
                </a:lnTo>
                <a:lnTo>
                  <a:pt x="5645459" y="2873450"/>
                </a:lnTo>
                <a:lnTo>
                  <a:pt x="5706163" y="2873450"/>
                </a:lnTo>
                <a:lnTo>
                  <a:pt x="5766867" y="2873450"/>
                </a:lnTo>
                <a:lnTo>
                  <a:pt x="5827571" y="2873450"/>
                </a:lnTo>
                <a:lnTo>
                  <a:pt x="5888274" y="2873450"/>
                </a:lnTo>
                <a:lnTo>
                  <a:pt x="5948978" y="2873450"/>
                </a:lnTo>
                <a:lnTo>
                  <a:pt x="6009682" y="2873450"/>
                </a:lnTo>
                <a:lnTo>
                  <a:pt x="6070386" y="2873450"/>
                </a:lnTo>
                <a:lnTo>
                  <a:pt x="6131090" y="2873450"/>
                </a:lnTo>
                <a:lnTo>
                  <a:pt x="6191794" y="2873450"/>
                </a:lnTo>
                <a:lnTo>
                  <a:pt x="6252498" y="2873450"/>
                </a:lnTo>
                <a:lnTo>
                  <a:pt x="6313202" y="2873450"/>
                </a:lnTo>
                <a:lnTo>
                  <a:pt x="6373905" y="2873450"/>
                </a:lnTo>
                <a:lnTo>
                  <a:pt x="6434609" y="2873450"/>
                </a:lnTo>
                <a:lnTo>
                  <a:pt x="6495313" y="2873450"/>
                </a:lnTo>
                <a:lnTo>
                  <a:pt x="6556017" y="2873450"/>
                </a:lnTo>
                <a:lnTo>
                  <a:pt x="6616721" y="2873450"/>
                </a:lnTo>
                <a:lnTo>
                  <a:pt x="6677425" y="2873450"/>
                </a:lnTo>
                <a:lnTo>
                  <a:pt x="6738129" y="2873450"/>
                </a:lnTo>
                <a:lnTo>
                  <a:pt x="6798832" y="2873450"/>
                </a:lnTo>
                <a:lnTo>
                  <a:pt x="6859536" y="2873450"/>
                </a:lnTo>
                <a:lnTo>
                  <a:pt x="6920240" y="2873450"/>
                </a:lnTo>
                <a:lnTo>
                  <a:pt x="6980944" y="2873450"/>
                </a:lnTo>
                <a:lnTo>
                  <a:pt x="7041648" y="2873450"/>
                </a:lnTo>
                <a:lnTo>
                  <a:pt x="7102352" y="2873450"/>
                </a:lnTo>
                <a:lnTo>
                  <a:pt x="7163056" y="2873450"/>
                </a:lnTo>
                <a:lnTo>
                  <a:pt x="7223760" y="2873450"/>
                </a:lnTo>
              </a:path>
            </a:pathLst>
          </a:custGeom>
          <a:noFill/>
          <a:ln w="31750">
            <a:solidFill>
              <a:srgbClr val="EDA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831412" y="1097280"/>
            <a:ext cx="0" cy="2926080"/>
          </a:xfrm>
          <a:prstGeom prst="line">
            <a:avLst/>
          </a:prstGeom>
          <a:ln w="12700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22852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τ = c·T_ac</a:t>
            </a:r>
          </a:p>
          <a:p>
            <a:pPr algn="l"/>
            <a:r>
              <a:rPr sz="1100" b="0" i="0">
                <a:solidFill>
                  <a:srgbClr val="1F2937"/>
                </a:solidFill>
              </a:rPr>
              <a:t>(label-free)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horizon Δ  (patches; trained set marked)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" y="1051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" y="385876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91440" y="2377439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F2937"/>
                </a:solidFill>
              </a:rPr>
              <a:t>gate g(Δ)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